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8651E0-053C-774D-9F3F-342B8DBD5B05}" v="5" dt="2026-04-14T17:04:45.9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7"/>
    <p:restoredTop sz="94651"/>
  </p:normalViewPr>
  <p:slideViewPr>
    <p:cSldViewPr snapToGrid="0">
      <p:cViewPr varScale="1">
        <p:scale>
          <a:sx n="105" d="100"/>
          <a:sy n="105" d="100"/>
        </p:scale>
        <p:origin x="6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C65D3-4C42-082D-65F9-0AB9B87A1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813BFC-F9B0-7560-7FFD-43DFCD0451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4CD3D-5EAE-997C-066A-D866DCBA7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5E3E-D573-2C48-B603-A3D9524B5C22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856C3-D7A6-2457-1D7F-CBB5107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255CF-22F8-F960-5549-03277A3A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CE00A-C1FF-1047-852B-DC371616B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838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B2A6E-899F-767F-4787-8A3882ED8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F643F-61E3-8E5F-1715-74C9186BD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C2EFC-F5A3-DB89-546B-9B585C874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5E3E-D573-2C48-B603-A3D9524B5C22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C9A86-8895-D495-01E2-BE9CCD3F1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24C62-AC5F-3819-A804-DC3881F91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CE00A-C1FF-1047-852B-DC371616B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490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02519-C484-2F2B-57D5-322E64C3B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8524D-A835-1598-601E-482B7567F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CE87F-A461-97AA-E430-872DA4095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5E3E-D573-2C48-B603-A3D9524B5C22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0BF9E-5138-41C4-5620-000CAA93C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40403-2E8E-1E65-44EF-639B8E1DB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CE00A-C1FF-1047-852B-DC371616B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465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17158-DDAC-DF2A-8AC9-98C74B069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BA121-933F-4A1A-38E3-8BF34C85D4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9B9665-600A-ED15-0EF1-F78CDDF8F7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BA56B-8A8C-A503-D1D4-16881D2AB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5E3E-D573-2C48-B603-A3D9524B5C22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18447-2462-FECC-F220-2FDCFD1FF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B46303-F51A-9FDA-897B-0C6E703DA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CE00A-C1FF-1047-852B-DC371616B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659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7A428-B6EA-2EC4-CD32-2059C0A23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43D1E7-FCB6-D37A-C844-9B30DDCB6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03F16-C0BD-70A6-D462-547EBF7B7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897748-8309-CB9F-57F9-4D345F8B8D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1AF830-496E-FA6A-10BF-D1A22AFA2C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27E47B-992A-7D97-9255-9612B60FF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5E3E-D573-2C48-B603-A3D9524B5C22}" type="datetimeFigureOut">
              <a:rPr lang="en-US" smtClean="0"/>
              <a:t>4/14/26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FE3AA3-84C9-13DB-486C-63C48C47F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31CAEA-E550-BB55-1047-7C07A4A64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CE00A-C1FF-1047-852B-DC371616B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334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93C5B-2FF9-EA31-EBC3-07369AAFE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A6EB54-F53F-C570-1B00-A93A961A6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5E3E-D573-2C48-B603-A3D9524B5C22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EEAA84-3A3F-CD61-8C19-719D3CB1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F389A-8C24-122C-C454-09D192D1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CE00A-C1FF-1047-852B-DC371616B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466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76D382-61BF-7DF7-FB5E-B99A484E9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5E3E-D573-2C48-B603-A3D9524B5C22}" type="datetimeFigureOut">
              <a:rPr lang="en-US" smtClean="0"/>
              <a:t>4/14/26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EBB1CB-0058-2EAA-C655-AC4626D63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02E7CE-FEA4-C904-7D8A-B03D111FC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CE00A-C1FF-1047-852B-DC371616B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746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8DF50-8F87-CD11-160A-922E69524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30BBD-3FA2-C548-B4A4-0730EE053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4CC425-4F04-ACE2-0D1F-65B2A35BB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50DCB-7492-727E-4246-F8BE9E508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5E3E-D573-2C48-B603-A3D9524B5C22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38673-5E7F-5029-F74B-223521407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82060-8D78-BF85-0091-678BF49A1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CE00A-C1FF-1047-852B-DC371616B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242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49187-FF62-0FA9-8B5D-E930FCC8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340197-FCB2-63FB-798C-854309C2DD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0630C-7188-3F7A-4298-AE175E604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D1BA12-567C-4F4B-249A-728E7641F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5E3E-D573-2C48-B603-A3D9524B5C22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48EB0-0AC3-EEE8-2835-879D924D6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BA4CA-E488-0C09-B6A5-52DD8D984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CE00A-C1FF-1047-852B-DC371616B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549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6111A-688C-9974-9464-4D9C2136E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7815D-85B3-1CEA-EA7E-D8B84A26A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BE050-79C1-A3CA-4E87-7C65E4A1E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5E3E-D573-2C48-B603-A3D9524B5C22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ADE7E-C076-108D-9B30-18F5CA79C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73FC7-9B5D-D48C-2043-40ADC041C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CE00A-C1FF-1047-852B-DC371616B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124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689391-303D-570B-0573-22104D20FF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36F9C0-2F3F-A902-D530-24423E6FC8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762A0-1568-FD3C-2E00-7C18451A3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5E3E-D573-2C48-B603-A3D9524B5C22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E8498-8AAD-6934-FCEC-52257935B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3CE6E-92A8-0EF4-62A8-E13B94FC4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CE00A-C1FF-1047-852B-DC371616B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688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C76AAC-2A9D-5B30-6319-431AAF47F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91F08-0664-E6AC-212C-83D351818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96568-8F66-F3F0-57FF-C522A7CAEC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F95E3E-D573-2C48-B603-A3D9524B5C22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6B835-0C35-24B0-2D54-27323C36D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3A1FC-A963-B910-842B-17E268F5FB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9CE00A-C1FF-1047-852B-DC371616B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574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7F2D5-EE3F-F6C5-0EF4-0AE197BBE5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map with orange planes and a dotted line&#10;&#10;AI-generated content may be incorrect.">
            <a:extLst>
              <a:ext uri="{FF2B5EF4-FFF2-40B4-BE49-F238E27FC236}">
                <a16:creationId xmlns:a16="http://schemas.microsoft.com/office/drawing/2014/main" id="{1A295E60-8667-488B-F1A8-CDBB55A155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DF80D64-864D-7C19-1FA5-E7D7F02E45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76874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Group 6</a:t>
            </a:r>
            <a:br>
              <a:rPr lang="en-US" dirty="0"/>
            </a:br>
            <a:r>
              <a:rPr lang="en-US" dirty="0"/>
              <a:t>Simran Abhay Sinha</a:t>
            </a:r>
            <a:br>
              <a:rPr lang="en-US" dirty="0"/>
            </a:br>
            <a:r>
              <a:rPr lang="en-US" dirty="0"/>
              <a:t>Arav Pandey</a:t>
            </a:r>
            <a:br>
              <a:rPr lang="en-US" dirty="0"/>
            </a:br>
            <a:r>
              <a:rPr lang="en-US" dirty="0"/>
              <a:t>Savan Sangamesh Awanti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7836AD-AFF7-8D1B-4C0A-D895D6EC1A8A}"/>
              </a:ext>
            </a:extLst>
          </p:cNvPr>
          <p:cNvSpPr txBox="1"/>
          <p:nvPr/>
        </p:nvSpPr>
        <p:spPr>
          <a:xfrm>
            <a:off x="1451344" y="2413337"/>
            <a:ext cx="92893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 i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4000" b="1" i="0" dirty="0">
                <a:solidFill>
                  <a:srgbClr val="185FA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dget Travel Scout</a:t>
            </a:r>
          </a:p>
          <a:p>
            <a:pPr algn="ctr">
              <a:buNone/>
            </a:pPr>
            <a:r>
              <a:rPr lang="en-US" sz="2000" dirty="0"/>
              <a:t>A multi-agent AI system that finds the best vibe vs. cost match for your next trip</a:t>
            </a:r>
            <a:endParaRPr lang="en-US" sz="2000" b="1" i="0" dirty="0">
              <a:solidFill>
                <a:srgbClr val="185FA5"/>
              </a:solidFill>
              <a:effectLst/>
              <a:latin typeface="Montserrat" panose="000005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632739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B66FA-C470-7946-5709-98F4DA4E0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white and orange background with brown dots&#10;&#10;AI-generated content may be incorrect.">
            <a:extLst>
              <a:ext uri="{FF2B5EF4-FFF2-40B4-BE49-F238E27FC236}">
                <a16:creationId xmlns:a16="http://schemas.microsoft.com/office/drawing/2014/main" id="{3CEF7E28-50BA-1959-3FC3-2B2B7C79B9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/>
          <a:srcRect t="1773" r="1033" b="3262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230E06-1D9D-6EE3-470D-04D4312C7780}"/>
              </a:ext>
            </a:extLst>
          </p:cNvPr>
          <p:cNvSpPr txBox="1"/>
          <p:nvPr/>
        </p:nvSpPr>
        <p:spPr>
          <a:xfrm>
            <a:off x="838200" y="365125"/>
            <a:ext cx="9579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ADBCA6-8B36-6CFC-9E04-F3D009660441}"/>
              </a:ext>
            </a:extLst>
          </p:cNvPr>
          <p:cNvSpPr txBox="1"/>
          <p:nvPr/>
        </p:nvSpPr>
        <p:spPr>
          <a:xfrm>
            <a:off x="838200" y="1491337"/>
            <a:ext cx="618992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Planning a budget trip is overwhelming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Flight Search, hotel hunt, and activity research are 3 separate tasks across many websites.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No single tool gives you a daily cost breakdown with a budget score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Genetic recommendation don’t match your specific interests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Travelers have no fast way to compare destinations by budget friendliness 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DF7D031-73AD-0957-B688-E3A1C67F99B4}"/>
              </a:ext>
            </a:extLst>
          </p:cNvPr>
          <p:cNvSpPr/>
          <p:nvPr/>
        </p:nvSpPr>
        <p:spPr>
          <a:xfrm>
            <a:off x="7240772" y="1408188"/>
            <a:ext cx="4274288" cy="3859619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817D7E-1411-E85A-5B01-5EE21C952D96}"/>
              </a:ext>
            </a:extLst>
          </p:cNvPr>
          <p:cNvSpPr txBox="1"/>
          <p:nvPr/>
        </p:nvSpPr>
        <p:spPr>
          <a:xfrm>
            <a:off x="7511902" y="1756493"/>
            <a:ext cx="3732028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 3+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Hours avg. spend planning a weekend trip budget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sz="2800" b="1" dirty="0"/>
              <a:t>10 s</a:t>
            </a:r>
            <a:br>
              <a:rPr lang="en-US" dirty="0"/>
            </a:br>
            <a:endParaRPr lang="en-US" dirty="0"/>
          </a:p>
          <a:p>
            <a:pPr algn="ctr"/>
            <a:r>
              <a:rPr lang="en-US" dirty="0"/>
              <a:t>Budget ravel Scout completes the same task in under 10 sec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844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7335D-8B78-8529-6CDC-E8D931B93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B0718-87D3-01EC-5623-7FC6DEFB5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white and orange background with brown dots&#10;&#10;AI-generated content may be incorrect.">
            <a:extLst>
              <a:ext uri="{FF2B5EF4-FFF2-40B4-BE49-F238E27FC236}">
                <a16:creationId xmlns:a16="http://schemas.microsoft.com/office/drawing/2014/main" id="{42DC555B-1363-3DCA-44DA-0489537CF1E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/>
          <a:srcRect t="1773" r="1033" b="3262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92F846-0C85-74B8-9BD1-60A78F9EF851}"/>
              </a:ext>
            </a:extLst>
          </p:cNvPr>
          <p:cNvSpPr txBox="1"/>
          <p:nvPr/>
        </p:nvSpPr>
        <p:spPr>
          <a:xfrm>
            <a:off x="838200" y="365125"/>
            <a:ext cx="10221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F430E5-C63A-3A4A-C855-B967978CFAD8}"/>
              </a:ext>
            </a:extLst>
          </p:cNvPr>
          <p:cNvSpPr txBox="1"/>
          <p:nvPr/>
        </p:nvSpPr>
        <p:spPr>
          <a:xfrm>
            <a:off x="838200" y="1027906"/>
            <a:ext cx="103366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</a:t>
            </a:r>
            <a:r>
              <a:rPr lang="en-US" b="1" dirty="0">
                <a:solidFill>
                  <a:schemeClr val="accent2"/>
                </a:solidFill>
              </a:rPr>
              <a:t>3-agent AI pipeline </a:t>
            </a:r>
            <a:r>
              <a:rPr lang="en-US" b="1" dirty="0"/>
              <a:t>that does it all at once</a:t>
            </a:r>
          </a:p>
          <a:p>
            <a:endParaRPr lang="en-US" b="1" dirty="0"/>
          </a:p>
          <a:p>
            <a:r>
              <a:rPr lang="en-US" dirty="0"/>
              <a:t>Enter your origin, destination, interest, budget, and trip duration - get a full report in seconds.</a:t>
            </a:r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BF4424F-3E7E-2663-3EE2-50F80BAED769}"/>
              </a:ext>
            </a:extLst>
          </p:cNvPr>
          <p:cNvSpPr/>
          <p:nvPr/>
        </p:nvSpPr>
        <p:spPr>
          <a:xfrm>
            <a:off x="384683" y="2103438"/>
            <a:ext cx="1749942" cy="1325561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Origin + Destination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730EDE7-001A-0786-EAF8-0F29733F1FC1}"/>
              </a:ext>
            </a:extLst>
          </p:cNvPr>
          <p:cNvSpPr/>
          <p:nvPr/>
        </p:nvSpPr>
        <p:spPr>
          <a:xfrm>
            <a:off x="2777530" y="2103438"/>
            <a:ext cx="1749942" cy="1325562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Agent A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Researcher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862111F-2A4F-79EA-AB2F-E2A69D1CFF20}"/>
              </a:ext>
            </a:extLst>
          </p:cNvPr>
          <p:cNvSpPr/>
          <p:nvPr/>
        </p:nvSpPr>
        <p:spPr>
          <a:xfrm>
            <a:off x="5170378" y="2103438"/>
            <a:ext cx="1749942" cy="1325562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Agent B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Local Guide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94C5FC2-5A3F-4BF4-2AF2-2D918F4FF2F1}"/>
              </a:ext>
            </a:extLst>
          </p:cNvPr>
          <p:cNvSpPr/>
          <p:nvPr/>
        </p:nvSpPr>
        <p:spPr>
          <a:xfrm>
            <a:off x="7627392" y="2103438"/>
            <a:ext cx="1749942" cy="1325562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Agent C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Budgeter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7096CCB-797A-8AAA-3727-056CC0E56E46}"/>
              </a:ext>
            </a:extLst>
          </p:cNvPr>
          <p:cNvSpPr/>
          <p:nvPr/>
        </p:nvSpPr>
        <p:spPr>
          <a:xfrm>
            <a:off x="10057439" y="2055813"/>
            <a:ext cx="1749942" cy="1325562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Full Report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+ Budget Score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0B3ABEA-26FC-E9BF-D942-A605C955F301}"/>
              </a:ext>
            </a:extLst>
          </p:cNvPr>
          <p:cNvCxnSpPr/>
          <p:nvPr/>
        </p:nvCxnSpPr>
        <p:spPr>
          <a:xfrm>
            <a:off x="4649972" y="2718594"/>
            <a:ext cx="4146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1D2F66E-8FC8-A400-5846-9CC916361864}"/>
              </a:ext>
            </a:extLst>
          </p:cNvPr>
          <p:cNvCxnSpPr/>
          <p:nvPr/>
        </p:nvCxnSpPr>
        <p:spPr>
          <a:xfrm>
            <a:off x="2250558" y="2718594"/>
            <a:ext cx="4146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58AEE74-6551-9AF1-CC45-F1BE91319835}"/>
              </a:ext>
            </a:extLst>
          </p:cNvPr>
          <p:cNvCxnSpPr/>
          <p:nvPr/>
        </p:nvCxnSpPr>
        <p:spPr>
          <a:xfrm>
            <a:off x="7045841" y="2718594"/>
            <a:ext cx="4146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47CA8A6-240C-54D3-1227-6CD01FFDE897}"/>
              </a:ext>
            </a:extLst>
          </p:cNvPr>
          <p:cNvCxnSpPr/>
          <p:nvPr/>
        </p:nvCxnSpPr>
        <p:spPr>
          <a:xfrm>
            <a:off x="9495026" y="2718594"/>
            <a:ext cx="4146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D312DAF-E279-CEA5-848E-7E9A730E2D15}"/>
              </a:ext>
            </a:extLst>
          </p:cNvPr>
          <p:cNvSpPr/>
          <p:nvPr/>
        </p:nvSpPr>
        <p:spPr>
          <a:xfrm>
            <a:off x="1117487" y="3746500"/>
            <a:ext cx="2680812" cy="2308324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Flight + Hotel Costs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GPT-4o + RAG-grounded estimates with price ranges and booking tips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4588B86-1888-E18A-A23D-322700A6AC17}"/>
              </a:ext>
            </a:extLst>
          </p:cNvPr>
          <p:cNvSpPr/>
          <p:nvPr/>
        </p:nvSpPr>
        <p:spPr>
          <a:xfrm>
            <a:off x="8197028" y="3746500"/>
            <a:ext cx="2680812" cy="2308324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Budget Breakdown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Daily total, budget score /10, over/under budget indicator, savings tips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1C4DE75-1FB3-6416-BB05-7C71DE5FCB95}"/>
              </a:ext>
            </a:extLst>
          </p:cNvPr>
          <p:cNvSpPr/>
          <p:nvPr/>
        </p:nvSpPr>
        <p:spPr>
          <a:xfrm>
            <a:off x="4704943" y="3746500"/>
            <a:ext cx="2680812" cy="2308324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Free Local Activities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3 curated activities matching your interest, sourced from scraped web data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B59911E-B1F1-A872-08A9-AE7C88159146}"/>
              </a:ext>
            </a:extLst>
          </p:cNvPr>
          <p:cNvSpPr/>
          <p:nvPr/>
        </p:nvSpPr>
        <p:spPr>
          <a:xfrm>
            <a:off x="672923" y="3653730"/>
            <a:ext cx="641237" cy="65002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D8A5268-7F71-63FF-07DF-8649623572A7}"/>
              </a:ext>
            </a:extLst>
          </p:cNvPr>
          <p:cNvSpPr/>
          <p:nvPr/>
        </p:nvSpPr>
        <p:spPr>
          <a:xfrm>
            <a:off x="7812803" y="3653730"/>
            <a:ext cx="641237" cy="65002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2A41F81-442C-6ECD-289C-C63EB9017EF7}"/>
              </a:ext>
            </a:extLst>
          </p:cNvPr>
          <p:cNvSpPr/>
          <p:nvPr/>
        </p:nvSpPr>
        <p:spPr>
          <a:xfrm>
            <a:off x="4242863" y="3653730"/>
            <a:ext cx="641237" cy="65002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4289667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B5F1D-474D-436C-8DA3-7677768D0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A4F9E-08D0-E59B-927B-881A97702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white and orange background with brown dots&#10;&#10;AI-generated content may be incorrect.">
            <a:extLst>
              <a:ext uri="{FF2B5EF4-FFF2-40B4-BE49-F238E27FC236}">
                <a16:creationId xmlns:a16="http://schemas.microsoft.com/office/drawing/2014/main" id="{59E47FD2-544D-D820-94AF-683A78FD8DF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/>
          <a:srcRect t="1773" r="1033" b="3262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D3284B-0BA3-3580-5C64-A1D36BFB35D3}"/>
              </a:ext>
            </a:extLst>
          </p:cNvPr>
          <p:cNvSpPr txBox="1"/>
          <p:nvPr/>
        </p:nvSpPr>
        <p:spPr>
          <a:xfrm>
            <a:off x="838200" y="365125"/>
            <a:ext cx="9579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B0F5B3-D95F-FAD8-AD43-D3C15FC96C70}"/>
              </a:ext>
            </a:extLst>
          </p:cNvPr>
          <p:cNvSpPr txBox="1"/>
          <p:nvPr/>
        </p:nvSpPr>
        <p:spPr>
          <a:xfrm>
            <a:off x="838200" y="1077259"/>
            <a:ext cx="6189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Built with </a:t>
            </a:r>
            <a:r>
              <a:rPr lang="en-US" b="1" dirty="0">
                <a:solidFill>
                  <a:schemeClr val="accent2"/>
                </a:solidFill>
              </a:rPr>
              <a:t>production-grade</a:t>
            </a:r>
            <a:r>
              <a:rPr lang="en-US" b="1" dirty="0"/>
              <a:t> tools</a:t>
            </a:r>
          </a:p>
          <a:p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877DCD9-04FD-06CE-37AC-B77DABA0E0A9}"/>
              </a:ext>
            </a:extLst>
          </p:cNvPr>
          <p:cNvSpPr/>
          <p:nvPr/>
        </p:nvSpPr>
        <p:spPr>
          <a:xfrm>
            <a:off x="6969642" y="1408188"/>
            <a:ext cx="4545418" cy="4440813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290E5D-CFF3-7531-C425-BE1F7265241E}"/>
              </a:ext>
            </a:extLst>
          </p:cNvPr>
          <p:cNvSpPr txBox="1"/>
          <p:nvPr/>
        </p:nvSpPr>
        <p:spPr>
          <a:xfrm>
            <a:off x="6918252" y="1507913"/>
            <a:ext cx="459680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LLM</a:t>
            </a:r>
            <a:br>
              <a:rPr lang="en-US" dirty="0"/>
            </a:br>
            <a:r>
              <a:rPr lang="en-US" dirty="0"/>
              <a:t>GPT-4o </a:t>
            </a:r>
            <a:r>
              <a:rPr lang="en-US" altLang="en-US" dirty="0">
                <a:latin typeface="Arial" panose="020B0604020202020204" pitchFamily="34" charset="0"/>
              </a:rPr>
              <a:t>· 3 instances · unique personas</a:t>
            </a:r>
          </a:p>
          <a:p>
            <a:endParaRPr lang="en-US" altLang="en-US" dirty="0">
              <a:latin typeface="Arial" panose="020B0604020202020204" pitchFamily="34" charset="0"/>
            </a:endParaRPr>
          </a:p>
          <a:p>
            <a:pPr algn="ctr"/>
            <a:r>
              <a:rPr lang="en-US" altLang="en-US" b="1" dirty="0">
                <a:latin typeface="Arial" panose="020B0604020202020204" pitchFamily="34" charset="0"/>
              </a:rPr>
              <a:t>Vector DB 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ChromaDB in-memory · cosine similarity</a:t>
            </a:r>
          </a:p>
          <a:p>
            <a:pPr algn="ctr"/>
            <a:endParaRPr lang="en-US" altLang="en-US" dirty="0">
              <a:latin typeface="Arial" panose="020B0604020202020204" pitchFamily="34" charset="0"/>
            </a:endParaRPr>
          </a:p>
          <a:p>
            <a:pPr algn="ctr"/>
            <a:r>
              <a:rPr lang="en-US" altLang="en-US" b="1" dirty="0">
                <a:latin typeface="Arial" panose="020B0604020202020204" pitchFamily="34" charset="0"/>
              </a:rPr>
              <a:t>Embeddings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all-MiniLM-L6-v2 (SentenceTransformers)</a:t>
            </a:r>
          </a:p>
          <a:p>
            <a:pPr algn="ctr"/>
            <a:endParaRPr lang="en-US" altLang="en-US" dirty="0">
              <a:latin typeface="Arial" panose="020B0604020202020204" pitchFamily="34" charset="0"/>
            </a:endParaRPr>
          </a:p>
          <a:p>
            <a:pPr algn="ctr"/>
            <a:r>
              <a:rPr lang="en-US" altLang="en-US" b="1" dirty="0">
                <a:latin typeface="Arial" panose="020B0604020202020204" pitchFamily="34" charset="0"/>
              </a:rPr>
              <a:t>Scraping</a:t>
            </a:r>
          </a:p>
          <a:p>
            <a:pPr algn="ctr"/>
            <a:r>
              <a:rPr lang="en-US" altLang="en-US" dirty="0">
                <a:latin typeface="Arial" panose="020B0604020202020204" pitchFamily="34" charset="0"/>
              </a:rPr>
              <a:t>BeautifulSoup · Wikivoyage + travel blogs</a:t>
            </a:r>
          </a:p>
          <a:p>
            <a:pPr algn="ctr"/>
            <a:endParaRPr lang="en-US" altLang="en-US" dirty="0">
              <a:latin typeface="Arial" panose="020B0604020202020204" pitchFamily="34" charset="0"/>
            </a:endParaRPr>
          </a:p>
          <a:p>
            <a:pPr algn="ctr"/>
            <a:r>
              <a:rPr lang="en-US" altLang="en-US" b="1" dirty="0">
                <a:latin typeface="Arial" panose="020B0604020202020204" pitchFamily="34" charset="0"/>
              </a:rPr>
              <a:t>Deployment</a:t>
            </a:r>
          </a:p>
          <a:p>
            <a:pPr algn="ctr"/>
            <a:r>
              <a:rPr lang="en-US" altLang="en-US" dirty="0">
                <a:latin typeface="Arial" panose="020B0604020202020204" pitchFamily="34" charset="0"/>
              </a:rPr>
              <a:t>Hugging Face Spaces · permanent URL</a:t>
            </a:r>
          </a:p>
          <a:p>
            <a:pPr algn="ctr"/>
            <a:r>
              <a:rPr lang="en-US" altLang="en-US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C0423E-C2DC-C454-79AB-9BC999727830}"/>
              </a:ext>
            </a:extLst>
          </p:cNvPr>
          <p:cNvSpPr txBox="1"/>
          <p:nvPr/>
        </p:nvSpPr>
        <p:spPr>
          <a:xfrm>
            <a:off x="1651000" y="1494882"/>
            <a:ext cx="531864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OpenAI GPT – 4o</a:t>
            </a:r>
          </a:p>
          <a:p>
            <a:r>
              <a:rPr lang="en-US" dirty="0"/>
              <a:t>Powers all 3 agents — differentiated by system prompt, temperature, and task scope</a:t>
            </a:r>
          </a:p>
          <a:p>
            <a:endParaRPr lang="en-US" b="1" dirty="0"/>
          </a:p>
          <a:p>
            <a:r>
              <a:rPr lang="en-US" b="1" dirty="0"/>
              <a:t>RAG Pipeline </a:t>
            </a:r>
            <a:br>
              <a:rPr lang="en-US" b="1" dirty="0"/>
            </a:br>
            <a:r>
              <a:rPr lang="en-US" dirty="0"/>
              <a:t>BeautifulSoup scrapes Wikivoyage + travel blogs → SentenceTransformers embeds → ChromaDB stores and retrieves</a:t>
            </a:r>
          </a:p>
          <a:p>
            <a:endParaRPr lang="en-US" b="1" dirty="0"/>
          </a:p>
          <a:p>
            <a:r>
              <a:rPr lang="en-US" b="1" dirty="0"/>
              <a:t>Gradio</a:t>
            </a:r>
            <a:br>
              <a:rPr lang="en-US" dirty="0"/>
            </a:br>
            <a:r>
              <a:rPr lang="en-US" dirty="0"/>
              <a:t>Interactive web UI deployed temporarily </a:t>
            </a:r>
          </a:p>
          <a:p>
            <a:endParaRPr lang="en-US" dirty="0"/>
          </a:p>
          <a:p>
            <a:r>
              <a:rPr lang="en-US" b="1" dirty="0"/>
              <a:t>Google Colab Notebook </a:t>
            </a:r>
          </a:p>
          <a:p>
            <a:r>
              <a:rPr lang="en-US" dirty="0"/>
              <a:t>Fully documented, cell-by-cell walkthrough with markdown explanations</a:t>
            </a:r>
          </a:p>
          <a:p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8EA398C-0248-0FF3-F9C0-DC53DCCD834A}"/>
              </a:ext>
            </a:extLst>
          </p:cNvPr>
          <p:cNvSpPr/>
          <p:nvPr/>
        </p:nvSpPr>
        <p:spPr>
          <a:xfrm>
            <a:off x="625549" y="1494882"/>
            <a:ext cx="812800" cy="74771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AI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12849B3-895E-D45F-62CA-2227181FD11B}"/>
              </a:ext>
            </a:extLst>
          </p:cNvPr>
          <p:cNvSpPr/>
          <p:nvPr/>
        </p:nvSpPr>
        <p:spPr>
          <a:xfrm>
            <a:off x="625549" y="5312796"/>
            <a:ext cx="812800" cy="74771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NB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2695BC1-1319-A389-0906-A6EB019D86E1}"/>
              </a:ext>
            </a:extLst>
          </p:cNvPr>
          <p:cNvSpPr/>
          <p:nvPr/>
        </p:nvSpPr>
        <p:spPr>
          <a:xfrm>
            <a:off x="628798" y="4034038"/>
            <a:ext cx="812800" cy="74771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UI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71C4CF-DCD0-C37C-639A-7FC5F1B717C0}"/>
              </a:ext>
            </a:extLst>
          </p:cNvPr>
          <p:cNvSpPr/>
          <p:nvPr/>
        </p:nvSpPr>
        <p:spPr>
          <a:xfrm>
            <a:off x="628798" y="2778079"/>
            <a:ext cx="812800" cy="74771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660730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8F5D2-B1E9-940E-8B42-48DEA38CB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A5B0D-6C59-B595-CA5F-DBF5546FE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white and orange background with brown dots&#10;&#10;AI-generated content may be incorrect.">
            <a:extLst>
              <a:ext uri="{FF2B5EF4-FFF2-40B4-BE49-F238E27FC236}">
                <a16:creationId xmlns:a16="http://schemas.microsoft.com/office/drawing/2014/main" id="{7FE3AFBB-259E-D607-5B8F-E736C26DDB7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/>
          <a:srcRect t="1773" r="1033" b="3262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18CD36-BB31-DDC6-60D0-2B319940BFAA}"/>
              </a:ext>
            </a:extLst>
          </p:cNvPr>
          <p:cNvSpPr txBox="1"/>
          <p:nvPr/>
        </p:nvSpPr>
        <p:spPr>
          <a:xfrm>
            <a:off x="838200" y="365125"/>
            <a:ext cx="10646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 Pipeline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2DFC63-C7B9-DE8E-3A86-A9E789E4C036}"/>
              </a:ext>
            </a:extLst>
          </p:cNvPr>
          <p:cNvSpPr txBox="1"/>
          <p:nvPr/>
        </p:nvSpPr>
        <p:spPr>
          <a:xfrm>
            <a:off x="838200" y="1077259"/>
            <a:ext cx="1064622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Real web data, not just </a:t>
            </a:r>
            <a:r>
              <a:rPr lang="en-US" b="1" dirty="0">
                <a:solidFill>
                  <a:schemeClr val="accent2"/>
                </a:solidFill>
              </a:rPr>
              <a:t>model guesses</a:t>
            </a:r>
          </a:p>
          <a:p>
            <a:endParaRPr lang="en-US" b="1" dirty="0"/>
          </a:p>
          <a:p>
            <a:r>
              <a:rPr lang="en-US" dirty="0"/>
              <a:t>When a user enters a destination, the system scrapes the web in real time and grounds LLM responses in actual travel content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3565416-D1E8-E947-009E-7978BD9DB014}"/>
              </a:ext>
            </a:extLst>
          </p:cNvPr>
          <p:cNvSpPr/>
          <p:nvPr/>
        </p:nvSpPr>
        <p:spPr>
          <a:xfrm>
            <a:off x="352025" y="2290853"/>
            <a:ext cx="1879545" cy="3021375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/>
              <a:t>🌐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Scrape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BeautifulSoup fetches Wikivoyage + Nomadic Matt blog for the destination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73D7164-7FC5-1A89-1CAC-24E621CE9149}"/>
              </a:ext>
            </a:extLst>
          </p:cNvPr>
          <p:cNvSpPr/>
          <p:nvPr/>
        </p:nvSpPr>
        <p:spPr>
          <a:xfrm>
            <a:off x="9836875" y="2290850"/>
            <a:ext cx="1879545" cy="3021375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/>
              <a:t>✨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Generate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GPT-4o produces grounded, specific answers — not generic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362BF5C-F6DD-6145-CC43-7A50F505D441}"/>
              </a:ext>
            </a:extLst>
          </p:cNvPr>
          <p:cNvSpPr/>
          <p:nvPr/>
        </p:nvSpPr>
        <p:spPr>
          <a:xfrm>
            <a:off x="7463832" y="2290851"/>
            <a:ext cx="1879545" cy="3021375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/>
              <a:t>🔍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Retrieve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Top-5 cosine-similar chunks passed as context to Agent A and Agent B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9002B7-4779-3AF8-E996-B5934E2C8B39}"/>
              </a:ext>
            </a:extLst>
          </p:cNvPr>
          <p:cNvSpPr/>
          <p:nvPr/>
        </p:nvSpPr>
        <p:spPr>
          <a:xfrm>
            <a:off x="5090788" y="2290850"/>
            <a:ext cx="1879545" cy="3021375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/>
              <a:t>🧠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Embed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all-MiniLM-L6-v2 creates semantic vectors, stored in ChromaDB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BB2BA93-565A-9357-BB22-1ACE527C757E}"/>
              </a:ext>
            </a:extLst>
          </p:cNvPr>
          <p:cNvSpPr/>
          <p:nvPr/>
        </p:nvSpPr>
        <p:spPr>
          <a:xfrm>
            <a:off x="2717745" y="2320146"/>
            <a:ext cx="1879545" cy="3021375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/>
              <a:t>✂️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Chunk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Text split into 500-char overlapping chunks, deduplicated by MD5 hash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5EE142E-790A-E735-99BF-625D639DB401}"/>
              </a:ext>
            </a:extLst>
          </p:cNvPr>
          <p:cNvCxnSpPr>
            <a:cxnSpLocks/>
          </p:cNvCxnSpPr>
          <p:nvPr/>
        </p:nvCxnSpPr>
        <p:spPr>
          <a:xfrm>
            <a:off x="2303075" y="3720080"/>
            <a:ext cx="2986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95D7E8A-3BA9-3DFF-FF94-001D5A67209D}"/>
              </a:ext>
            </a:extLst>
          </p:cNvPr>
          <p:cNvCxnSpPr>
            <a:cxnSpLocks/>
          </p:cNvCxnSpPr>
          <p:nvPr/>
        </p:nvCxnSpPr>
        <p:spPr>
          <a:xfrm>
            <a:off x="4697932" y="3720080"/>
            <a:ext cx="2986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5C30DD8-D059-289A-AA2F-BD4E2851012D}"/>
              </a:ext>
            </a:extLst>
          </p:cNvPr>
          <p:cNvCxnSpPr>
            <a:cxnSpLocks/>
          </p:cNvCxnSpPr>
          <p:nvPr/>
        </p:nvCxnSpPr>
        <p:spPr>
          <a:xfrm>
            <a:off x="7071018" y="3720080"/>
            <a:ext cx="2986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6EC0FB1-2B69-A6F4-89DE-14832B52C55C}"/>
              </a:ext>
            </a:extLst>
          </p:cNvPr>
          <p:cNvCxnSpPr>
            <a:cxnSpLocks/>
          </p:cNvCxnSpPr>
          <p:nvPr/>
        </p:nvCxnSpPr>
        <p:spPr>
          <a:xfrm>
            <a:off x="9473160" y="3706360"/>
            <a:ext cx="2986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659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3F9ED-9D07-566A-CDFB-9AA69DD5F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36C0D-EDF3-CA78-54E6-09E686C1A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white and orange background with brown dots&#10;&#10;AI-generated content may be incorrect.">
            <a:extLst>
              <a:ext uri="{FF2B5EF4-FFF2-40B4-BE49-F238E27FC236}">
                <a16:creationId xmlns:a16="http://schemas.microsoft.com/office/drawing/2014/main" id="{0A1BF208-85C4-C8FA-F4D7-65C536ED961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/>
          <a:srcRect t="1773" r="1033" b="3262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66E4D2-1561-9750-BB48-175D42160501}"/>
              </a:ext>
            </a:extLst>
          </p:cNvPr>
          <p:cNvSpPr txBox="1"/>
          <p:nvPr/>
        </p:nvSpPr>
        <p:spPr>
          <a:xfrm>
            <a:off x="838200" y="36512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B0D6BE-69EB-9B3C-6D3A-87C9C09C78EC}"/>
              </a:ext>
            </a:extLst>
          </p:cNvPr>
          <p:cNvSpPr txBox="1"/>
          <p:nvPr/>
        </p:nvSpPr>
        <p:spPr>
          <a:xfrm>
            <a:off x="838200" y="1077259"/>
            <a:ext cx="1064622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 agents, distinct personas, sequential dependency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DAA85CB-7F94-30B2-44B0-E9EB6C9A27A5}"/>
              </a:ext>
            </a:extLst>
          </p:cNvPr>
          <p:cNvSpPr/>
          <p:nvPr/>
        </p:nvSpPr>
        <p:spPr>
          <a:xfrm>
            <a:off x="266740" y="1626831"/>
            <a:ext cx="3664804" cy="3980894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Agent A (Researcher) 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RAG Model: GPT-4o · Temperature: 0.2 Estimates round-trip flights and hotel costs per night. Budget-aware - flags if destination exceeds max daily budget.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Output: JSON with </a:t>
            </a:r>
            <a:r>
              <a:rPr lang="en-US" dirty="0" err="1">
                <a:solidFill>
                  <a:schemeClr val="tx1"/>
                </a:solidFill>
              </a:rPr>
              <a:t>flight_low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flight_high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hotel_low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hotel_high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booking_tip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81C18D0-D0F0-00DC-ABA5-03BEB13ACC44}"/>
              </a:ext>
            </a:extLst>
          </p:cNvPr>
          <p:cNvSpPr/>
          <p:nvPr/>
        </p:nvSpPr>
        <p:spPr>
          <a:xfrm>
            <a:off x="8250961" y="1626831"/>
            <a:ext cx="3664804" cy="3980893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Agent C (Budgeter)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Model: GPT-4o · Temperature: 0.2 Synthesizes A + B outputs into a daily cost breakdown. Depends on both agents. Calculates total trip cost and budget score.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Output: daily totals, score/10, </a:t>
            </a:r>
            <a:r>
              <a:rPr lang="en-US" dirty="0" err="1">
                <a:solidFill>
                  <a:schemeClr val="tx1"/>
                </a:solidFill>
              </a:rPr>
              <a:t>over_budget</a:t>
            </a:r>
            <a:r>
              <a:rPr lang="en-US" dirty="0">
                <a:solidFill>
                  <a:schemeClr val="tx1"/>
                </a:solidFill>
              </a:rPr>
              <a:t> flag, </a:t>
            </a:r>
            <a:r>
              <a:rPr lang="en-US" dirty="0" err="1">
                <a:solidFill>
                  <a:schemeClr val="tx1"/>
                </a:solidFill>
              </a:rPr>
              <a:t>savings_tips</a:t>
            </a:r>
            <a:r>
              <a:rPr lang="en-US" dirty="0">
                <a:solidFill>
                  <a:schemeClr val="tx1"/>
                </a:solidFill>
              </a:rPr>
              <a:t> array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84E22E2-94C8-A34E-9715-A44099988AFE}"/>
              </a:ext>
            </a:extLst>
          </p:cNvPr>
          <p:cNvSpPr/>
          <p:nvPr/>
        </p:nvSpPr>
        <p:spPr>
          <a:xfrm>
            <a:off x="4309922" y="1626834"/>
            <a:ext cx="3664804" cy="3980891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Agent B (Local Guide)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 RAG Model: GPT-4o · Temperature: 0.3 Recommends 3 free or cheap activities matching the traveler's interest. On tight budgets, all activities must be Free.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Output: JSON array with name, description, cost, source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5F1D1E-E7EF-B97E-0DC6-0C1A052FF884}"/>
              </a:ext>
            </a:extLst>
          </p:cNvPr>
          <p:cNvSpPr txBox="1"/>
          <p:nvPr/>
        </p:nvSpPr>
        <p:spPr>
          <a:xfrm>
            <a:off x="914400" y="5834743"/>
            <a:ext cx="1043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Agent C cannot run without A and B completing first — enforcing a real sequential dependency chain. All agents use JSON-structured output with fallback regex parsing for robustness.</a:t>
            </a:r>
          </a:p>
        </p:txBody>
      </p:sp>
    </p:spTree>
    <p:extLst>
      <p:ext uri="{BB962C8B-B14F-4D97-AF65-F5344CB8AC3E}">
        <p14:creationId xmlns:p14="http://schemas.microsoft.com/office/powerpoint/2010/main" val="1743463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FA467-DBEF-4C00-B199-EF41528AF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920AF-EA52-D4A9-E2F0-E3BD486C0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white and orange background with brown dots&#10;&#10;AI-generated content may be incorrect.">
            <a:extLst>
              <a:ext uri="{FF2B5EF4-FFF2-40B4-BE49-F238E27FC236}">
                <a16:creationId xmlns:a16="http://schemas.microsoft.com/office/drawing/2014/main" id="{DF403E46-5D93-1AFF-0EC9-B0C99344966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/>
          <a:srcRect t="1773" r="1033" b="3262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4986E5-7AEB-D6E8-5980-95B528C6CC82}"/>
              </a:ext>
            </a:extLst>
          </p:cNvPr>
          <p:cNvSpPr txBox="1"/>
          <p:nvPr/>
        </p:nvSpPr>
        <p:spPr>
          <a:xfrm>
            <a:off x="838200" y="36512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01D208-8681-3227-73E6-634215E773E2}"/>
              </a:ext>
            </a:extLst>
          </p:cNvPr>
          <p:cNvSpPr txBox="1"/>
          <p:nvPr/>
        </p:nvSpPr>
        <p:spPr>
          <a:xfrm>
            <a:off x="838200" y="1077259"/>
            <a:ext cx="1064622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Beyond the basic requirements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62B8A93-57C9-03D4-ABBB-8832E3A4DBEA}"/>
              </a:ext>
            </a:extLst>
          </p:cNvPr>
          <p:cNvSpPr/>
          <p:nvPr/>
        </p:nvSpPr>
        <p:spPr>
          <a:xfrm>
            <a:off x="6890657" y="1626831"/>
            <a:ext cx="5025108" cy="3980893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Budget Friendliness                                          </a:t>
            </a:r>
            <a:r>
              <a:rPr lang="en-US" b="1" dirty="0">
                <a:solidFill>
                  <a:schemeClr val="tx1"/>
                </a:solidFill>
              </a:rPr>
              <a:t>8/10</a:t>
            </a:r>
            <a:endParaRPr lang="en-US" dirty="0">
              <a:solidFill>
                <a:schemeClr val="tx1"/>
              </a:solidFill>
            </a:endParaRPr>
          </a:p>
          <a:p>
            <a:br>
              <a:rPr lang="en-US" dirty="0"/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283957-B1AE-D9D9-AE92-87BA7A6722BA}"/>
              </a:ext>
            </a:extLst>
          </p:cNvPr>
          <p:cNvSpPr txBox="1"/>
          <p:nvPr/>
        </p:nvSpPr>
        <p:spPr>
          <a:xfrm>
            <a:off x="838200" y="1509097"/>
            <a:ext cx="619192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latin typeface="Arial" panose="020B0604020202020204" pitchFamily="34" charset="0"/>
              </a:rPr>
              <a:t>Budget constraint mode — set a max daily budget and get an over/under indicator with savings tips </a:t>
            </a:r>
          </a:p>
          <a:p>
            <a:endParaRPr lang="en-US" altLang="en-US" dirty="0">
              <a:latin typeface="Arial" panose="020B0604020202020204" pitchFamily="34" charset="0"/>
            </a:endParaRPr>
          </a:p>
          <a:p>
            <a:r>
              <a:rPr lang="en-US" altLang="en-US" dirty="0">
                <a:latin typeface="Arial" panose="020B0604020202020204" pitchFamily="34" charset="0"/>
              </a:rPr>
              <a:t>Trip duration slider — adjusts flight amortization and total trip cost estimate across 1–30 days </a:t>
            </a:r>
          </a:p>
          <a:p>
            <a:endParaRPr lang="en-US" altLang="en-US" dirty="0">
              <a:latin typeface="Arial" panose="020B0604020202020204" pitchFamily="34" charset="0"/>
            </a:endParaRPr>
          </a:p>
          <a:p>
            <a:r>
              <a:rPr lang="en-US" altLang="en-US" dirty="0">
                <a:latin typeface="Arial" panose="020B0604020202020204" pitchFamily="34" charset="0"/>
              </a:rPr>
              <a:t>RAG grounding — web scraping + vector retrieval gives destination-specific, real answers </a:t>
            </a:r>
          </a:p>
          <a:p>
            <a:endParaRPr lang="en-US" altLang="en-US" dirty="0">
              <a:latin typeface="Arial" panose="020B0604020202020204" pitchFamily="34" charset="0"/>
            </a:endParaRPr>
          </a:p>
          <a:p>
            <a:r>
              <a:rPr lang="en-US" altLang="en-US" dirty="0">
                <a:latin typeface="Arial" panose="020B0604020202020204" pitchFamily="34" charset="0"/>
              </a:rPr>
              <a:t>Graceful fallbacks — every agent has try/catch + fallback data so the pipeline never crashes </a:t>
            </a:r>
          </a:p>
          <a:p>
            <a:endParaRPr lang="en-US" altLang="en-US" dirty="0">
              <a:latin typeface="Arial" panose="020B0604020202020204" pitchFamily="34" charset="0"/>
            </a:endParaRPr>
          </a:p>
          <a:p>
            <a:r>
              <a:rPr lang="en-US" altLang="en-US" dirty="0">
                <a:latin typeface="Arial" panose="020B0604020202020204" pitchFamily="34" charset="0"/>
              </a:rPr>
              <a:t>Permanent deployment — live on Hugging Face Spaces, no expiry</a:t>
            </a:r>
          </a:p>
          <a:p>
            <a:endParaRPr lang="en-US" altLang="en-US" dirty="0">
              <a:latin typeface="Arial" panose="020B0604020202020204" pitchFamily="34" charset="0"/>
            </a:endParaRPr>
          </a:p>
          <a:p>
            <a:r>
              <a:rPr lang="en-US" altLang="en-US" dirty="0">
                <a:latin typeface="Arial" panose="020B0604020202020204" pitchFamily="34" charset="0"/>
              </a:rPr>
              <a:t>10 interest categories including Architecture and Wildlife, beyond the original 8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633E14A-6D42-88F7-A7B6-7F3881B445BC}"/>
              </a:ext>
            </a:extLst>
          </p:cNvPr>
          <p:cNvSpPr/>
          <p:nvPr/>
        </p:nvSpPr>
        <p:spPr>
          <a:xfrm>
            <a:off x="7141029" y="1813277"/>
            <a:ext cx="4561114" cy="132556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AGENT C OUTPUT EXAMPLE</a:t>
            </a:r>
          </a:p>
          <a:p>
            <a:r>
              <a:rPr lang="en-US" dirty="0"/>
              <a:t>Within Budget — $4618/day to spare</a:t>
            </a:r>
          </a:p>
          <a:p>
            <a:r>
              <a:rPr lang="en-US" dirty="0"/>
              <a:t>Daily total: $382 vs max: $5000 | Trip (6d): ~$2,520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5925664-86B2-E15C-5CD3-6DF78A210EC8}"/>
              </a:ext>
            </a:extLst>
          </p:cNvPr>
          <p:cNvSpPr/>
          <p:nvPr/>
        </p:nvSpPr>
        <p:spPr>
          <a:xfrm>
            <a:off x="7030125" y="3279268"/>
            <a:ext cx="1000812" cy="936832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Hotel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$100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FCD0686-3801-7539-0BD7-FB286E39C6E0}"/>
              </a:ext>
            </a:extLst>
          </p:cNvPr>
          <p:cNvSpPr/>
          <p:nvPr/>
        </p:nvSpPr>
        <p:spPr>
          <a:xfrm>
            <a:off x="8170405" y="3279268"/>
            <a:ext cx="1000812" cy="954671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Food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$50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C1582F9-AC60-602C-7EEF-4BB707D8275C}"/>
              </a:ext>
            </a:extLst>
          </p:cNvPr>
          <p:cNvSpPr/>
          <p:nvPr/>
        </p:nvSpPr>
        <p:spPr>
          <a:xfrm>
            <a:off x="9310685" y="3256575"/>
            <a:ext cx="1353225" cy="970189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Transport </a:t>
            </a:r>
          </a:p>
          <a:p>
            <a:pPr algn="ctr"/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$30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5817AF0-52F3-D6F8-E7BD-37D0091E1FBD}"/>
              </a:ext>
            </a:extLst>
          </p:cNvPr>
          <p:cNvSpPr/>
          <p:nvPr/>
        </p:nvSpPr>
        <p:spPr>
          <a:xfrm>
            <a:off x="10799638" y="3226586"/>
            <a:ext cx="1000813" cy="970189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Flight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$192</a:t>
            </a:r>
          </a:p>
        </p:txBody>
      </p:sp>
      <p:sp>
        <p:nvSpPr>
          <p:cNvPr id="18" name="Minus 17">
            <a:extLst>
              <a:ext uri="{FF2B5EF4-FFF2-40B4-BE49-F238E27FC236}">
                <a16:creationId xmlns:a16="http://schemas.microsoft.com/office/drawing/2014/main" id="{03B9E65B-8FF6-9AE1-195C-6F0F5CA3EEE7}"/>
              </a:ext>
            </a:extLst>
          </p:cNvPr>
          <p:cNvSpPr/>
          <p:nvPr/>
        </p:nvSpPr>
        <p:spPr>
          <a:xfrm>
            <a:off x="6589949" y="4557107"/>
            <a:ext cx="4763851" cy="885204"/>
          </a:xfrm>
          <a:prstGeom prst="mathMinus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462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C19D6-EDD0-AD4C-DD3F-D4E1013FC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0D3AF-C9A0-EFDE-B089-9C4685D02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white and orange background with brown dots&#10;&#10;AI-generated content may be incorrect.">
            <a:extLst>
              <a:ext uri="{FF2B5EF4-FFF2-40B4-BE49-F238E27FC236}">
                <a16:creationId xmlns:a16="http://schemas.microsoft.com/office/drawing/2014/main" id="{A30D6525-CB8B-9033-D656-205CCECC18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/>
          <a:srcRect t="1773" r="1033" b="3262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EB042C-2718-1A78-A780-072F0D643A18}"/>
              </a:ext>
            </a:extLst>
          </p:cNvPr>
          <p:cNvSpPr txBox="1"/>
          <p:nvPr/>
        </p:nvSpPr>
        <p:spPr>
          <a:xfrm>
            <a:off x="838200" y="36512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Demo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6B38A6-7CF7-DBF5-B106-719691D76682}"/>
              </a:ext>
            </a:extLst>
          </p:cNvPr>
          <p:cNvSpPr txBox="1"/>
          <p:nvPr/>
        </p:nvSpPr>
        <p:spPr>
          <a:xfrm>
            <a:off x="838200" y="1077259"/>
            <a:ext cx="6189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Boston → Mumbai · Adventure · 6 days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7BB6338-D41C-D020-952E-63E3D2ED042D}"/>
              </a:ext>
            </a:extLst>
          </p:cNvPr>
          <p:cNvSpPr/>
          <p:nvPr/>
        </p:nvSpPr>
        <p:spPr>
          <a:xfrm>
            <a:off x="6335486" y="1408188"/>
            <a:ext cx="5179574" cy="4247317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cap="all" dirty="0">
              <a:solidFill>
                <a:schemeClr val="tx1"/>
              </a:solidFill>
            </a:endParaRPr>
          </a:p>
          <a:p>
            <a:pPr algn="ctr"/>
            <a:endParaRPr lang="en-US" cap="all" dirty="0">
              <a:solidFill>
                <a:schemeClr val="tx1"/>
              </a:solidFill>
            </a:endParaRPr>
          </a:p>
          <a:p>
            <a:pPr algn="ctr"/>
            <a:endParaRPr lang="en-US" b="1" cap="all" dirty="0">
              <a:solidFill>
                <a:schemeClr val="tx1"/>
              </a:solidFill>
            </a:endParaRPr>
          </a:p>
          <a:p>
            <a:pPr algn="ctr"/>
            <a:r>
              <a:rPr lang="en-US" b="1" cap="all" dirty="0">
                <a:solidFill>
                  <a:schemeClr val="tx1"/>
                </a:solidFill>
              </a:rPr>
              <a:t>Budget Friendliness</a:t>
            </a:r>
          </a:p>
          <a:p>
            <a:pPr algn="ctr"/>
            <a:endParaRPr lang="en-US" cap="all" dirty="0">
              <a:solidFill>
                <a:schemeClr val="tx1"/>
              </a:solidFill>
            </a:endParaRPr>
          </a:p>
          <a:p>
            <a:pPr algn="ctr"/>
            <a:r>
              <a:rPr lang="en-US" sz="5400" b="1" dirty="0">
                <a:solidFill>
                  <a:schemeClr val="tx1"/>
                </a:solidFill>
              </a:rPr>
              <a:t>8 / 10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A8ED55-5753-8BFB-9149-443B560B58FB}"/>
              </a:ext>
            </a:extLst>
          </p:cNvPr>
          <p:cNvSpPr txBox="1"/>
          <p:nvPr/>
        </p:nvSpPr>
        <p:spPr>
          <a:xfrm>
            <a:off x="1651000" y="1494882"/>
            <a:ext cx="501105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Researcher · GPT-4o + RAG</a:t>
            </a:r>
          </a:p>
          <a:p>
            <a:r>
              <a:rPr lang="en-US" dirty="0"/>
              <a:t>Flight: </a:t>
            </a:r>
            <a:r>
              <a:rPr lang="en-US" b="1" dirty="0"/>
              <a:t>$800–$1500</a:t>
            </a:r>
            <a:r>
              <a:rPr lang="en-US" dirty="0"/>
              <a:t>  |  Hotel: </a:t>
            </a:r>
            <a:r>
              <a:rPr lang="en-US" b="1" dirty="0"/>
              <a:t>$50–$150/night</a:t>
            </a:r>
            <a:endParaRPr lang="en-US" dirty="0"/>
          </a:p>
          <a:p>
            <a:r>
              <a:rPr lang="en-US" dirty="0"/>
              <a:t>RAG: 5 web chunks indexed from Wikivoyage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>
                <a:solidFill>
                  <a:schemeClr val="accent2"/>
                </a:solidFill>
              </a:rPr>
              <a:t>Local Guide · GPT-4o + RAG</a:t>
            </a:r>
          </a:p>
          <a:p>
            <a:r>
              <a:rPr lang="en-US" dirty="0"/>
              <a:t>Marine Drive - </a:t>
            </a:r>
            <a:r>
              <a:rPr lang="en-US" b="1" dirty="0"/>
              <a:t>Free</a:t>
            </a:r>
          </a:p>
          <a:p>
            <a:r>
              <a:rPr lang="en-US" dirty="0"/>
              <a:t>Sanjay Gandhi National Park - </a:t>
            </a:r>
            <a:r>
              <a:rPr lang="en-US" b="1" dirty="0"/>
              <a:t>Free</a:t>
            </a:r>
          </a:p>
          <a:p>
            <a:r>
              <a:rPr lang="en-US" dirty="0"/>
              <a:t>Elephanta Caves - </a:t>
            </a:r>
            <a:r>
              <a:rPr lang="en-US" b="1" dirty="0"/>
              <a:t>$5–$15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>
                <a:solidFill>
                  <a:schemeClr val="accent2"/>
                </a:solidFill>
              </a:rPr>
              <a:t>Budgeter · GPT-4o</a:t>
            </a:r>
          </a:p>
          <a:p>
            <a:r>
              <a:rPr lang="en-US" b="1" dirty="0"/>
              <a:t>Grand Daily Total: $382   Score: 8/10</a:t>
            </a:r>
          </a:p>
          <a:p>
            <a:r>
              <a:rPr lang="en-US" dirty="0"/>
              <a:t>Est. total trip (6d): ~$2,520</a:t>
            </a:r>
          </a:p>
          <a:p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4686ECA-5F47-1FEB-5E10-FFCB5030DBB2}"/>
              </a:ext>
            </a:extLst>
          </p:cNvPr>
          <p:cNvSpPr/>
          <p:nvPr/>
        </p:nvSpPr>
        <p:spPr>
          <a:xfrm>
            <a:off x="625549" y="1494882"/>
            <a:ext cx="812800" cy="74771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98A9AB3-883D-2A72-3626-F9DB77E833CA}"/>
              </a:ext>
            </a:extLst>
          </p:cNvPr>
          <p:cNvSpPr/>
          <p:nvPr/>
        </p:nvSpPr>
        <p:spPr>
          <a:xfrm>
            <a:off x="625549" y="4615406"/>
            <a:ext cx="812800" cy="74771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95F7707-96AB-881E-55E4-E17B6061A211}"/>
              </a:ext>
            </a:extLst>
          </p:cNvPr>
          <p:cNvSpPr/>
          <p:nvPr/>
        </p:nvSpPr>
        <p:spPr>
          <a:xfrm>
            <a:off x="625549" y="2925384"/>
            <a:ext cx="812800" cy="74771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4B94E57-1E1D-4308-DAB8-C6BC0E7DCB4B}"/>
              </a:ext>
            </a:extLst>
          </p:cNvPr>
          <p:cNvSpPr/>
          <p:nvPr/>
        </p:nvSpPr>
        <p:spPr>
          <a:xfrm>
            <a:off x="6544930" y="3595650"/>
            <a:ext cx="4760686" cy="1618608"/>
          </a:xfrm>
          <a:prstGeom prst="roundRec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Within Budget</a:t>
            </a:r>
            <a:r>
              <a:rPr lang="en-US" dirty="0"/>
              <a:t> — $4618/day to spare</a:t>
            </a:r>
            <a:br>
              <a:rPr lang="en-US" dirty="0"/>
            </a:br>
            <a:r>
              <a:rPr lang="en-US" dirty="0"/>
              <a:t>Mumbai offers affordable accommodations and activities, making it a budget-friendly destination.</a:t>
            </a:r>
          </a:p>
        </p:txBody>
      </p:sp>
      <p:sp>
        <p:nvSpPr>
          <p:cNvPr id="14" name="Minus 13">
            <a:extLst>
              <a:ext uri="{FF2B5EF4-FFF2-40B4-BE49-F238E27FC236}">
                <a16:creationId xmlns:a16="http://schemas.microsoft.com/office/drawing/2014/main" id="{6D000C15-5B3C-0FC8-E039-F710F529BE4D}"/>
              </a:ext>
            </a:extLst>
          </p:cNvPr>
          <p:cNvSpPr/>
          <p:nvPr/>
        </p:nvSpPr>
        <p:spPr>
          <a:xfrm>
            <a:off x="5856515" y="2710445"/>
            <a:ext cx="5179574" cy="885204"/>
          </a:xfrm>
          <a:prstGeom prst="mathMinus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70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95964-769C-D302-FE3C-9B85E3F5F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D53E9-4D07-9405-8F16-424F6A767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white and orange background with brown dots&#10;&#10;AI-generated content may be incorrect.">
            <a:extLst>
              <a:ext uri="{FF2B5EF4-FFF2-40B4-BE49-F238E27FC236}">
                <a16:creationId xmlns:a16="http://schemas.microsoft.com/office/drawing/2014/main" id="{C9298DBA-686E-0554-CFE9-E5E497A6E9C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/>
          <a:srcRect t="1773" r="1033" b="3262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0465A9-ED20-8589-9366-AE4201191C34}"/>
              </a:ext>
            </a:extLst>
          </p:cNvPr>
          <p:cNvSpPr txBox="1"/>
          <p:nvPr/>
        </p:nvSpPr>
        <p:spPr>
          <a:xfrm>
            <a:off x="838200" y="365125"/>
            <a:ext cx="9579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Decisions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835588-A48D-C5DF-0E0C-F24D615C55E9}"/>
              </a:ext>
            </a:extLst>
          </p:cNvPr>
          <p:cNvSpPr txBox="1"/>
          <p:nvPr/>
        </p:nvSpPr>
        <p:spPr>
          <a:xfrm>
            <a:off x="838200" y="1077259"/>
            <a:ext cx="61899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Challenges solved along the way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AAA68B-3C66-9C30-10A4-9A3287873A50}"/>
              </a:ext>
            </a:extLst>
          </p:cNvPr>
          <p:cNvSpPr txBox="1"/>
          <p:nvPr/>
        </p:nvSpPr>
        <p:spPr>
          <a:xfrm>
            <a:off x="1108867" y="1494882"/>
            <a:ext cx="510645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OpenAI </a:t>
            </a:r>
            <a:r>
              <a:rPr lang="en-US" b="1" dirty="0" err="1"/>
              <a:t>web_search_preview</a:t>
            </a:r>
            <a:r>
              <a:rPr lang="en-US" b="1" dirty="0"/>
              <a:t> too slow </a:t>
            </a:r>
            <a:br>
              <a:rPr lang="en-US" dirty="0"/>
            </a:br>
            <a:r>
              <a:rPr lang="en-US" dirty="0"/>
              <a:t>The first approach used OpenAI's built-in web search tool. It caused 600-second timeouts in Colab. Replaced with a RAG pipeline (scrape → embed → retrieve) for faster, more controllable grounding.</a:t>
            </a:r>
          </a:p>
          <a:p>
            <a:endParaRPr lang="en-US" b="1" dirty="0"/>
          </a:p>
          <a:p>
            <a:r>
              <a:rPr lang="en-US" b="1" dirty="0" err="1"/>
              <a:t>Gradio.live</a:t>
            </a:r>
            <a:r>
              <a:rPr lang="en-US" b="1" dirty="0"/>
              <a:t> 72-hour expiry </a:t>
            </a:r>
            <a:br>
              <a:rPr lang="en-US" dirty="0"/>
            </a:br>
            <a:r>
              <a:rPr lang="en-US" dirty="0"/>
              <a:t>The share=True link expires after 72 hours — not suitable for a graded submission. Deployed to Hugging Face Spaces for a permanent URL with API key secured via HF Secrets.</a:t>
            </a:r>
          </a:p>
          <a:p>
            <a:endParaRPr lang="en-US" b="1" dirty="0"/>
          </a:p>
          <a:p>
            <a:r>
              <a:rPr lang="en-US" b="1" dirty="0"/>
              <a:t>ChromaDB </a:t>
            </a:r>
            <a:r>
              <a:rPr lang="en-US" b="1" dirty="0" err="1"/>
              <a:t>n_results</a:t>
            </a:r>
            <a:r>
              <a:rPr lang="en-US" b="1" dirty="0"/>
              <a:t> crash</a:t>
            </a:r>
            <a:br>
              <a:rPr lang="en-US" dirty="0"/>
            </a:br>
            <a:r>
              <a:rPr lang="en-US" dirty="0"/>
              <a:t>Requesting more results than indexed documents caused hard errors. Fixed with a one-line clamp: </a:t>
            </a:r>
            <a:r>
              <a:rPr lang="en-US" dirty="0" err="1"/>
              <a:t>safe_n</a:t>
            </a:r>
            <a:r>
              <a:rPr lang="en-US" dirty="0"/>
              <a:t> = min(</a:t>
            </a:r>
            <a:r>
              <a:rPr lang="en-US" dirty="0" err="1"/>
              <a:t>n_results</a:t>
            </a:r>
            <a:r>
              <a:rPr lang="en-US" dirty="0"/>
              <a:t>, </a:t>
            </a:r>
            <a:r>
              <a:rPr lang="en-US" dirty="0" err="1"/>
              <a:t>collection.count</a:t>
            </a:r>
            <a:r>
              <a:rPr lang="en-US" dirty="0"/>
              <a:t>()).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26D952C-BB49-4DF0-5DE5-A950F1AAEA2D}"/>
              </a:ext>
            </a:extLst>
          </p:cNvPr>
          <p:cNvSpPr/>
          <p:nvPr/>
        </p:nvSpPr>
        <p:spPr>
          <a:xfrm>
            <a:off x="186492" y="1494882"/>
            <a:ext cx="812800" cy="74771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DF09570-1C56-6483-F543-0DB1379BC00F}"/>
              </a:ext>
            </a:extLst>
          </p:cNvPr>
          <p:cNvSpPr/>
          <p:nvPr/>
        </p:nvSpPr>
        <p:spPr>
          <a:xfrm>
            <a:off x="186492" y="5117395"/>
            <a:ext cx="812800" cy="74771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2564672-555C-ECA4-64E8-6D07A85E7957}"/>
              </a:ext>
            </a:extLst>
          </p:cNvPr>
          <p:cNvSpPr/>
          <p:nvPr/>
        </p:nvSpPr>
        <p:spPr>
          <a:xfrm>
            <a:off x="186492" y="3372351"/>
            <a:ext cx="812800" cy="752151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DE01C0-C572-DD98-1C0F-D7C333730C1B}"/>
              </a:ext>
            </a:extLst>
          </p:cNvPr>
          <p:cNvSpPr txBox="1"/>
          <p:nvPr/>
        </p:nvSpPr>
        <p:spPr>
          <a:xfrm>
            <a:off x="7105038" y="1314739"/>
            <a:ext cx="508696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JSON parsing robustness </a:t>
            </a:r>
            <a:br>
              <a:rPr lang="en-US" b="1" dirty="0"/>
            </a:br>
            <a:r>
              <a:rPr lang="en-US" dirty="0"/>
              <a:t>GPT-4o</a:t>
            </a:r>
            <a:r>
              <a:rPr lang="en-US" b="1" dirty="0"/>
              <a:t> </a:t>
            </a:r>
            <a:r>
              <a:rPr lang="en-US" dirty="0"/>
              <a:t>sometimes wraps responses in markdown fences or adds extra text. Added regex fallback parsing so every agent always returns valid structured data regardless.</a:t>
            </a:r>
          </a:p>
          <a:p>
            <a:endParaRPr lang="en-US" b="1" dirty="0"/>
          </a:p>
          <a:p>
            <a:r>
              <a:rPr lang="en-US" b="1" dirty="0"/>
              <a:t>Gemini API timeout in Colab</a:t>
            </a:r>
            <a:br>
              <a:rPr lang="en-US" b="1" dirty="0"/>
            </a:br>
            <a:r>
              <a:rPr lang="en-US" dirty="0"/>
              <a:t>Gemini 1.5 Flash was the intended model for Agent B but Colab's network blocked outbound Gemini API calls causing indefinite hangs. Replaced with GPT-4o using a higher temperature (0.3) and a Local Guide persona to differentiate it from Agent A.</a:t>
            </a:r>
          </a:p>
          <a:p>
            <a:endParaRPr lang="en-US" b="1" dirty="0"/>
          </a:p>
          <a:p>
            <a:r>
              <a:rPr lang="en-US" b="1" dirty="0"/>
              <a:t>Unicode </a:t>
            </a:r>
            <a:r>
              <a:rPr lang="en-US" b="1" dirty="0" err="1"/>
              <a:t>SyntaxError</a:t>
            </a:r>
            <a:r>
              <a:rPr lang="en-US" b="1" dirty="0"/>
              <a:t> in Colab </a:t>
            </a:r>
            <a:br>
              <a:rPr lang="en-US" b="1" dirty="0"/>
            </a:br>
            <a:r>
              <a:rPr lang="en-US" dirty="0"/>
              <a:t>Em dash characters (U+2014) copied into cell comments caused </a:t>
            </a:r>
            <a:r>
              <a:rPr lang="en-US" dirty="0" err="1"/>
              <a:t>SyntaxError</a:t>
            </a:r>
            <a:r>
              <a:rPr lang="en-US" dirty="0"/>
              <a:t> on Cell 2. Replaced all special characters with standard hyphens throughout the notebook.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1A0766D-2F63-FB9E-7182-BFBE73B5FAE2}"/>
              </a:ext>
            </a:extLst>
          </p:cNvPr>
          <p:cNvSpPr/>
          <p:nvPr/>
        </p:nvSpPr>
        <p:spPr>
          <a:xfrm>
            <a:off x="6258146" y="5117395"/>
            <a:ext cx="812800" cy="74771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C5F5537-A1C6-357F-2AC7-4D062EF53BE6}"/>
              </a:ext>
            </a:extLst>
          </p:cNvPr>
          <p:cNvSpPr/>
          <p:nvPr/>
        </p:nvSpPr>
        <p:spPr>
          <a:xfrm>
            <a:off x="6249413" y="2937155"/>
            <a:ext cx="812800" cy="74771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35E1B7C-8BE4-14B3-283D-AA9918837FD3}"/>
              </a:ext>
            </a:extLst>
          </p:cNvPr>
          <p:cNvSpPr/>
          <p:nvPr/>
        </p:nvSpPr>
        <p:spPr>
          <a:xfrm>
            <a:off x="6249413" y="1290616"/>
            <a:ext cx="812800" cy="74771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89088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71966-73E7-37DA-F813-3A0CCA7DE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BB4B5-896B-F6F2-78E0-6BB875E6F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white and orange background with brown dots&#10;&#10;AI-generated content may be incorrect.">
            <a:extLst>
              <a:ext uri="{FF2B5EF4-FFF2-40B4-BE49-F238E27FC236}">
                <a16:creationId xmlns:a16="http://schemas.microsoft.com/office/drawing/2014/main" id="{4A32A9BC-E792-6025-7B5D-C7813FB6494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/>
          <a:srcRect t="1773" r="1033" b="3262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940BF8-CD67-6607-4E32-BBC043B5341B}"/>
              </a:ext>
            </a:extLst>
          </p:cNvPr>
          <p:cNvSpPr txBox="1"/>
          <p:nvPr/>
        </p:nvSpPr>
        <p:spPr>
          <a:xfrm>
            <a:off x="838200" y="365125"/>
            <a:ext cx="10428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909A64-8477-F305-F354-5C2EE01FD115}"/>
              </a:ext>
            </a:extLst>
          </p:cNvPr>
          <p:cNvSpPr txBox="1"/>
          <p:nvPr/>
        </p:nvSpPr>
        <p:spPr>
          <a:xfrm>
            <a:off x="838200" y="1027906"/>
            <a:ext cx="1033661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fully working, </a:t>
            </a:r>
            <a:r>
              <a:rPr lang="en-US" b="1" dirty="0">
                <a:solidFill>
                  <a:schemeClr val="accent2"/>
                </a:solidFill>
              </a:rPr>
              <a:t>permanently deployed</a:t>
            </a:r>
            <a:r>
              <a:rPr lang="en-US" b="1" dirty="0"/>
              <a:t> multi-agent AI app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dirty="0"/>
              <a:t>Thank you!  ·  Questions welcome  ·  Demo available at the link above</a:t>
            </a:r>
            <a:endParaRPr lang="en-US" b="1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2D0B372-DED4-E021-193A-941A7C236DFD}"/>
              </a:ext>
            </a:extLst>
          </p:cNvPr>
          <p:cNvSpPr/>
          <p:nvPr/>
        </p:nvSpPr>
        <p:spPr>
          <a:xfrm>
            <a:off x="511627" y="1905069"/>
            <a:ext cx="2405743" cy="2511889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AI Agents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Sequential pipeline with real dependency chain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4BABCD4-CF20-DC92-12CA-0E7A871DEA31}"/>
              </a:ext>
            </a:extLst>
          </p:cNvPr>
          <p:cNvSpPr/>
          <p:nvPr/>
        </p:nvSpPr>
        <p:spPr>
          <a:xfrm>
            <a:off x="3380012" y="1851164"/>
            <a:ext cx="2405742" cy="2500582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RAG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Web-grounded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Scrape → Embed → Retrieve → Generate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E3AF716-9A44-1767-90A4-8236502C1BE5}"/>
              </a:ext>
            </a:extLst>
          </p:cNvPr>
          <p:cNvSpPr/>
          <p:nvPr/>
        </p:nvSpPr>
        <p:spPr>
          <a:xfrm>
            <a:off x="6248396" y="1851165"/>
            <a:ext cx="2405743" cy="2500581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10s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Response time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Full pipeline completes in under 10 seconds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1378FD6-3F41-DA0E-2155-48CF7F12DF05}"/>
              </a:ext>
            </a:extLst>
          </p:cNvPr>
          <p:cNvSpPr/>
          <p:nvPr/>
        </p:nvSpPr>
        <p:spPr>
          <a:xfrm>
            <a:off x="9116781" y="1868564"/>
            <a:ext cx="2405743" cy="2483182"/>
          </a:xfrm>
          <a:prstGeom prst="round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Live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GitHub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Link</a:t>
            </a:r>
          </a:p>
        </p:txBody>
      </p:sp>
    </p:spTree>
    <p:extLst>
      <p:ext uri="{BB962C8B-B14F-4D97-AF65-F5344CB8AC3E}">
        <p14:creationId xmlns:p14="http://schemas.microsoft.com/office/powerpoint/2010/main" val="2172648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8eec281-aaa3-4dae-ac9b-9a398b9215e7}" enabled="0" method="" siteId="{a8eec281-aaa3-4dae-ac9b-9a398b9215e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949</TotalTime>
  <Words>1174</Words>
  <Application>Microsoft Macintosh PowerPoint</Application>
  <PresentationFormat>Widescreen</PresentationFormat>
  <Paragraphs>324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Montserrat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Simran Abhay Sinha</dc:creator>
  <cp:lastModifiedBy>Simran Abhay Sinha</cp:lastModifiedBy>
  <cp:revision>10</cp:revision>
  <dcterms:created xsi:type="dcterms:W3CDTF">2026-04-14T03:16:14Z</dcterms:created>
  <dcterms:modified xsi:type="dcterms:W3CDTF">2026-04-14T19:06:54Z</dcterms:modified>
</cp:coreProperties>
</file>